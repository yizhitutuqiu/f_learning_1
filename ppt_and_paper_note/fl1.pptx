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5807"/>
  </p:normalViewPr>
  <p:slideViewPr>
    <p:cSldViewPr snapToGrid="0">
      <p:cViewPr varScale="1">
        <p:scale>
          <a:sx n="88" d="100"/>
          <a:sy n="88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91269-0CC6-C04B-92BF-AB49A7B5846F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342F4-52E6-CF40-B12E-B2F5721F30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114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7503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66355-ADBD-E5A1-D6D7-6D1A62175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1671CF-9EF8-E85F-BE1F-BD0CC5E8D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007E68-E921-CFC9-D65B-BAAF25EEF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019B55-5C07-FD39-749C-CA07D44BF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656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86F3C-AA5F-29B1-6350-73E413B8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AE4FBD-DBA4-DCFF-364A-1F7FE9C01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1D0318-E021-FADB-57D3-A1EDCE6BD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310AB-5954-53A9-A76A-C7237F7F9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3206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DBDF-9104-913B-078B-27FC90361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385A14-4B6E-5F8C-1396-64185487E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0D8F40-09C3-B8E9-2430-E12B4E16A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95B78F-CD93-EA0F-6D2A-8ACF3CAAD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3633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14E69-ECFD-624F-BCA1-CE1A7C56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4ADE32-7BE0-20FF-7ACF-2082CAEBA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8B7A20-7D71-0AAE-0F77-FDA8C54E0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4A9334-681F-8483-411D-14BE32DFF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479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328-0B90-1446-1E2F-E777D644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68644D-DFD6-1072-E174-5B49FADB8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A98F57-B65A-F44A-80F4-A44B88A04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1D96A-4F67-49E1-4794-BA978C1A0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1819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281D-C33A-FB22-7FC8-94F87440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3E4149-C636-F40B-F6EC-1430BE96E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DF5F77-745D-035E-13E4-E809D5154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AE43D1-A0C8-DA65-D6BD-9D2175CC1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692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517EC-4EA8-EE7D-914A-57293158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EB991A-8CA3-83A2-5F08-082198FFB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E92892-E505-0ECB-8808-9CB5AC8CC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6A184A-9272-D9F0-4145-93153E002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342F4-52E6-CF40-B12E-B2F5721F305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640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CF1A0-0054-54BC-B771-98D8BF4B7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84AD6B-37F3-6BE3-D59C-2C4E0EE5E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120BBA-00D9-C069-1BF1-8B25C33B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44403-F71A-3F1D-937B-9FB4D37B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25AA4-E37D-0366-3EB2-FFD0CC3D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2359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62AB0-7AC6-5297-13D3-7ECD40CA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66BAC-D2C3-E9EE-DEB0-9BDAD0EB9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3134C-C082-6E89-0E26-29CEF9F31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18294-A4EF-1A47-B731-9BEECFC54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DF221-47F9-BC2A-DF82-E0C648937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984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4A59A-A4E1-6AEF-E430-D9C9D9430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CD97E-9FB7-E47A-277E-E9CB94F4D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93BC7-F95E-4C60-A8CE-2F845C52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B9880-553A-0FC9-B0C0-D3BB969C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979E5C-F850-178C-A136-E04AA628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915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3D032-4327-4496-E0C9-DF3540D17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34491-3F79-7392-29C3-A6364E950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C6BCB1-20C9-2179-6D78-788D13FE4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5B860-16C2-EBA0-4585-EFF7A01B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0ECE22-83D5-F4ED-210B-CEDD60CF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32482-C6EC-C3FC-00DC-736E993A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720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E401F-B6BE-F18C-6DB8-5FBD4107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B1A5FD-EF25-43AF-484B-2118C58BD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4CB18A-52AC-8000-50F4-6962F70AD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20EE75-6536-A9ED-28E5-D81351FA1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171619-5374-4A67-7EDB-B08A55D1A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AD1EFF-57D9-6882-06CF-F9D5957E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77B8AF-68F4-B0C8-1A08-F5985D02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C7ABE3-1CDE-58E3-239A-CFFEA121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13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FAD32-0832-AB07-B2B5-2E1EF00F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820A7A-E16C-A548-05F4-50D14E5F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014FEF1-7A74-0394-A448-C40707B8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F392E9-A0D5-A9EE-3E79-BB50820B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4995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1AA631-6051-BC56-E79E-E497ED6B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BE15D6-EF2A-230D-D742-D20A6D8A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1813CA-C459-82EB-B256-87549944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548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C1061-F8BD-3065-D143-EC8D4182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895BB5-F78D-2966-0B19-61AC24900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60271-743D-D57B-68A1-5E7675F46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496A44-E0C2-7F29-2F93-331B3FE6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A2193F-1E94-A4F9-F946-6C1DAC5F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58A57E-4D5A-E3F0-7BD0-8FB23839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140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2B576-B0C8-E406-2861-68A4BE54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315B99-C35B-2846-0856-9E25E5277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169B1D-BD22-0DF7-B6D0-DA8CD0F57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11C537-CC3D-F7D0-B70A-E0C4B189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919027-038E-7CB1-427C-54D32024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9D66F3-ED9C-A44F-FCF7-E5BC3651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889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E6839-6121-A0FC-B064-59FA4469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6417E7-1159-367C-0252-2F1C788B1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B3237-6B68-9AEE-750D-771C63E2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2B4081-A3C7-5C90-C633-950E269E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BE2B7-BB3C-790D-F939-890684A0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64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AC6D8E-8CA9-122D-719E-C23D2E6F7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AA521B-A33F-5EB1-79A0-308046FFC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92B0C-455A-D997-1E98-2392468D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4C683-27E1-F2E3-80D9-54BE9E52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E346AE-DF72-2C16-8D31-2DB22265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698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CB1365-9612-489E-99B1-7C26B30D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EF9A2D-1394-BCF7-20D1-15A04BF91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997C98-2DE7-3103-FFE8-7116B2775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0D953-3EDA-A84E-8C7A-591CBAB2AC63}" type="datetimeFigureOut">
              <a:rPr kumimoji="1" lang="zh-CN" altLang="en-US" smtClean="0"/>
              <a:t>2026/3/16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B941A6-E578-8B09-4F5E-D58D5C36A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0892D-6CCB-53CD-B01B-0A71AD595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0D349-577E-EE4E-9E71-D5C4A41EC7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524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izhitutuqiu/f_learning_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6C36B-441D-E220-81D7-F7178A2BE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9872" y="868362"/>
            <a:ext cx="10984992" cy="2387600"/>
          </a:xfrm>
        </p:spPr>
        <p:txBody>
          <a:bodyPr/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Optimization </a:t>
            </a:r>
            <a:b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Heterogeneous Networks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BFA6BD-A6AF-9D56-434E-5E0EE35AD9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27376" y="4237563"/>
            <a:ext cx="782116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4000" dirty="0">
                <a:solidFill>
                  <a:srgbClr val="000000"/>
                </a:solidFill>
                <a:latin typeface="Times New Roman" panose="02020603050405020304" pitchFamily="18" charset="0"/>
                <a:ea typeface="-webkit-standard"/>
                <a:cs typeface="Times New Roman" panose="02020603050405020304" pitchFamily="18" charset="0"/>
              </a:rPr>
              <a:t>——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-webkit-standard"/>
                <a:cs typeface="Times New Roman" panose="02020603050405020304" pitchFamily="18" charset="0"/>
              </a:rPr>
              <a:t>FedProx 框架的提出与解析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87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F995BD6-B58B-D08F-9EF7-3C9DA655C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8"/>
            <a:ext cx="639149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-webkit-standard"/>
                <a:cs typeface="Times New Roman" panose="02020603050405020304" pitchFamily="18" charset="0"/>
              </a:rPr>
              <a:t>联邦学习的两大核心挑战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9AA77A-6239-F388-B10C-19E6EDE8F3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5986"/>
            <a:ext cx="893978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系统异构性 (Systems Heterogeneity)</a:t>
            </a: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设备算力、网络、电量差异大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zh-CN" altLang="zh-CN" sz="3200" b="1" dirty="0">
                <a:solidFill>
                  <a:srgbClr val="000000"/>
                </a:solidFill>
              </a:rPr>
              <a:t>统计异构性 (Statistical Heterogeneity)</a:t>
            </a:r>
            <a:r>
              <a:rPr lang="zh-CN" altLang="zh-CN" sz="3200" dirty="0">
                <a:solidFill>
                  <a:srgbClr val="000000"/>
                </a:solidFill>
              </a:rPr>
              <a:t>：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zh-CN" altLang="zh-CN" sz="3200" dirty="0">
                <a:solidFill>
                  <a:srgbClr val="000000"/>
                </a:solidFill>
              </a:rPr>
              <a:t>非独立同分布 (Non-IID) 的数据 </a:t>
            </a:r>
            <a:endParaRPr lang="zh-CN" altLang="zh-CN" sz="3200" dirty="0"/>
          </a:p>
          <a:p>
            <a:pPr marL="0" lvl="0" indent="0">
              <a:lnSpc>
                <a:spcPct val="100000"/>
              </a:lnSpc>
              <a:buNone/>
            </a:pPr>
            <a:endParaRPr lang="zh-CN" altLang="zh-CN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384B06-8BD5-B673-D3E1-B3310A383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95" r="1273"/>
          <a:stretch>
            <a:fillRect/>
          </a:stretch>
        </p:blipFill>
        <p:spPr>
          <a:xfrm>
            <a:off x="838200" y="4840224"/>
            <a:ext cx="10122408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6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F9E1-CA33-CB85-12B0-E5CCC919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88C9F90-6179-595C-A29B-C5DE514BE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04634"/>
            <a:ext cx="864153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现有基准方法 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（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FedAvg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）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 的局限</a:t>
            </a:r>
            <a:br>
              <a:rPr lang="zh-CN" altLang="zh-CN" dirty="0">
                <a:latin typeface="Arial" panose="020B0604020202020204" pitchFamily="34" charset="0"/>
              </a:rPr>
            </a:b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11B737-C26D-E5C5-0BFE-DD3DA2B06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7548"/>
            <a:ext cx="893978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200" b="1" dirty="0">
                <a:solidFill>
                  <a:srgbClr val="000000"/>
                </a:solidFill>
              </a:rPr>
              <a:t>FedAvg 机制</a:t>
            </a:r>
            <a:r>
              <a:rPr lang="zh-CN" altLang="zh-CN" sz="3200" dirty="0">
                <a:solidFill>
                  <a:srgbClr val="000000"/>
                </a:solidFill>
              </a:rPr>
              <a:t>：本地SGD + 中心服务器平均 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200" b="1" dirty="0">
                <a:solidFill>
                  <a:srgbClr val="000000"/>
                </a:solidFill>
              </a:rPr>
              <a:t>痛点1</a:t>
            </a:r>
            <a:r>
              <a:rPr lang="zh-CN" altLang="zh-CN" sz="3200" dirty="0">
                <a:solidFill>
                  <a:srgbClr val="000000"/>
                </a:solidFill>
              </a:rPr>
              <a:t>：直接丢弃掉队设备 (Stragglers) 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200" b="1" dirty="0">
                <a:solidFill>
                  <a:srgbClr val="000000"/>
                </a:solidFill>
              </a:rPr>
              <a:t>痛点2</a:t>
            </a:r>
            <a:r>
              <a:rPr lang="zh-CN" altLang="zh-CN" sz="3200" dirty="0">
                <a:solidFill>
                  <a:srgbClr val="000000"/>
                </a:solidFill>
              </a:rPr>
              <a:t>：在非独立同分布数据上容易发散 </a:t>
            </a:r>
            <a:endParaRPr lang="zh-CN" altLang="zh-CN" sz="3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CB20324-F385-8381-2EF4-519F63E7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66" y="3429000"/>
            <a:ext cx="58166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7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4FB51-A9C9-D58C-5DED-789A0889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0D635B1-07D2-9278-D164-B0284C498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06613"/>
            <a:ext cx="1017881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zh-CN" b="1" dirty="0">
                <a:solidFill>
                  <a:srgbClr val="000000"/>
                </a:solidFill>
                <a:latin typeface="Arial" panose="020B0604020202020204" pitchFamily="34" charset="0"/>
              </a:rPr>
              <a:t>FedProx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：FedAvg 的泛化与重新参数化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BA00ED-C45B-E076-B329-F83C77A7F1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7672"/>
            <a:ext cx="893978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000000"/>
                </a:solidFill>
              </a:rPr>
              <a:t>基于</a:t>
            </a:r>
            <a:r>
              <a:rPr lang="en-US" altLang="zh-CN" sz="3600" b="1" dirty="0" err="1">
                <a:solidFill>
                  <a:srgbClr val="000000"/>
                </a:solidFill>
              </a:rPr>
              <a:t>FedAvg</a:t>
            </a:r>
            <a:r>
              <a:rPr lang="zh-CN" altLang="en-US" sz="3600" b="1" dirty="0">
                <a:solidFill>
                  <a:srgbClr val="000000"/>
                </a:solidFill>
              </a:rPr>
              <a:t>的</a:t>
            </a:r>
            <a:r>
              <a:rPr lang="zh-CN" altLang="zh-CN" sz="3600" b="1" dirty="0">
                <a:solidFill>
                  <a:srgbClr val="000000"/>
                </a:solidFill>
              </a:rPr>
              <a:t>两大微调 (Modifications)</a:t>
            </a:r>
            <a:r>
              <a:rPr lang="zh-CN" altLang="zh-CN" sz="3600" dirty="0">
                <a:solidFill>
                  <a:srgbClr val="000000"/>
                </a:solidFill>
              </a:rPr>
              <a:t>：</a:t>
            </a:r>
            <a:endParaRPr lang="zh-CN" altLang="zh-CN" sz="3600" dirty="0"/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600" dirty="0">
                <a:solidFill>
                  <a:srgbClr val="000000"/>
                </a:solidFill>
              </a:rPr>
              <a:t>容忍部分工作 (Tolerating Partial Work) 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600" dirty="0">
                <a:solidFill>
                  <a:srgbClr val="000000"/>
                </a:solidFill>
              </a:rPr>
              <a:t>引入</a:t>
            </a:r>
            <a:r>
              <a:rPr lang="zh-CN" altLang="en-US" sz="3600" dirty="0">
                <a:solidFill>
                  <a:srgbClr val="000000"/>
                </a:solidFill>
              </a:rPr>
              <a:t>近端惩罚</a:t>
            </a:r>
            <a:r>
              <a:rPr lang="zh-CN" altLang="zh-CN" sz="3600" dirty="0">
                <a:solidFill>
                  <a:srgbClr val="000000"/>
                </a:solidFill>
              </a:rPr>
              <a:t>项 (Proximal Term)</a:t>
            </a:r>
          </a:p>
          <a:p>
            <a:pPr marL="0" lvl="0" indent="0">
              <a:lnSpc>
                <a:spcPct val="100000"/>
              </a:lnSpc>
              <a:buNone/>
            </a:pPr>
            <a:endParaRPr lang="zh-CN" altLang="zh-CN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028AA4-EA3B-EEF1-C286-A80C612BB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1" y="3767614"/>
            <a:ext cx="6360535" cy="19204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11E281-8183-F389-04C8-0C888CEE7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052" y="3090386"/>
            <a:ext cx="46482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56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26E7-2F29-B94F-CE3B-FE88916A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805FF4A-46A2-71E5-B98A-1B3C206AE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06613"/>
            <a:ext cx="639149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创新点一：容忍部分工作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6615FC-417A-BCA0-0B18-C696E919F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33055"/>
            <a:ext cx="95981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600" b="1" dirty="0">
                <a:solidFill>
                  <a:srgbClr val="000000"/>
                </a:solidFill>
              </a:rPr>
              <a:t>丢弃 vs. 聚合</a:t>
            </a:r>
            <a:r>
              <a:rPr lang="zh-CN" altLang="zh-CN" sz="3600" dirty="0">
                <a:solidFill>
                  <a:srgbClr val="000000"/>
                </a:solidFill>
              </a:rPr>
              <a:t>：收集掉队设备的“部分更新” 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600" b="1" dirty="0">
                <a:solidFill>
                  <a:srgbClr val="000000"/>
                </a:solidFill>
              </a:rPr>
              <a:t>动态调整</a:t>
            </a:r>
            <a:r>
              <a:rPr lang="zh-CN" altLang="zh-CN" sz="3600" dirty="0">
                <a:solidFill>
                  <a:srgbClr val="000000"/>
                </a:solidFill>
              </a:rPr>
              <a:t>：根据设备资源灵活分配工作量</a:t>
            </a:r>
            <a:endParaRPr lang="zh-CN" altLang="zh-CN" sz="3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56329A-C0F7-8998-DC57-4FA813816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32" y="3090385"/>
            <a:ext cx="5970874" cy="21465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6A581C-F884-9313-0DFB-D4BECD73F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32" y="5236939"/>
            <a:ext cx="5977144" cy="120032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8A69A0C-1395-57BF-66DC-89E2EBF92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698" y="3429000"/>
            <a:ext cx="5497262" cy="245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79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B8E7-E8AF-562A-0394-DB3C8BF6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F7F3F42-E24F-09A0-31E6-3C70CACED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06613"/>
            <a:ext cx="69557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创新点二：引入近端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惩罚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项</a:t>
            </a:r>
            <a:endParaRPr lang="zh-CN" altLang="zh-CN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39A6878C-043D-6E29-1217-1E8929ECB98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1637598"/>
                <a:ext cx="10415016" cy="2020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lvl="0" indent="0">
                  <a:lnSpc>
                    <a:spcPct val="100000"/>
                  </a:lnSpc>
                  <a:buFontTx/>
                  <a:buChar char="•"/>
                </a:pPr>
                <a:r>
                  <a:rPr lang="zh-CN" altLang="zh-CN" sz="3600" b="1" dirty="0">
                    <a:solidFill>
                      <a:srgbClr val="000000"/>
                    </a:solidFill>
                  </a:rPr>
                  <a:t>本地目标函数修改</a:t>
                </a:r>
                <a:r>
                  <a:rPr lang="zh-CN" altLang="zh-CN" sz="3600" dirty="0">
                    <a:solidFill>
                      <a:srgbClr val="000000"/>
                    </a:solidFill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" altLang="zh-CN" sz="3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" altLang="zh-CN" sz="36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" altLang="zh-CN" sz="36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" altLang="zh-CN" sz="36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" altLang="zh-CN" sz="36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" altLang="zh-CN" sz="36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" altLang="zh-CN" sz="36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" altLang="zh-CN" sz="36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" altLang="zh-CN" sz="3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3600" dirty="0">
                  <a:solidFill>
                    <a:srgbClr val="000000"/>
                  </a:solidFill>
                </a:endParaRPr>
              </a:p>
              <a:p>
                <a:pPr marL="0" lvl="0" indent="0">
                  <a:lnSpc>
                    <a:spcPct val="100000"/>
                  </a:lnSpc>
                  <a:buFontTx/>
                  <a:buChar char="•"/>
                </a:pPr>
                <a:r>
                  <a:rPr lang="zh-CN" altLang="zh-CN" sz="3600" b="1" dirty="0">
                    <a:solidFill>
                      <a:srgbClr val="000000"/>
                    </a:solidFill>
                  </a:rPr>
                  <a:t>作用</a:t>
                </a:r>
                <a:r>
                  <a:rPr lang="zh-CN" altLang="zh-CN" sz="3600" dirty="0">
                    <a:solidFill>
                      <a:srgbClr val="000000"/>
                    </a:solidFill>
                  </a:rPr>
                  <a:t>：限制本地更新偏离全局模型过远 </a:t>
                </a:r>
              </a:p>
              <a:p>
                <a:pPr marL="0" lvl="0" indent="0">
                  <a:lnSpc>
                    <a:spcPct val="100000"/>
                  </a:lnSpc>
                  <a:buFontTx/>
                  <a:buChar char="•"/>
                </a:pPr>
                <a:r>
                  <a:rPr lang="zh-CN" altLang="zh-CN" sz="3600" b="1" dirty="0">
                    <a:solidFill>
                      <a:srgbClr val="000000"/>
                    </a:solidFill>
                  </a:rPr>
                  <a:t>双重优势</a:t>
                </a:r>
                <a:r>
                  <a:rPr lang="zh-CN" altLang="zh-CN" sz="3600" dirty="0">
                    <a:solidFill>
                      <a:srgbClr val="000000"/>
                    </a:solidFill>
                  </a:rPr>
                  <a:t>：应对统计异构性，安全融合部分更新 </a:t>
                </a:r>
                <a:endParaRPr lang="zh-CN" altLang="zh-CN" sz="3600" dirty="0"/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39A6878C-043D-6E29-1217-1E8929ECB9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637598"/>
                <a:ext cx="10415016" cy="2020297"/>
              </a:xfrm>
              <a:prstGeom prst="rect">
                <a:avLst/>
              </a:prstGeom>
              <a:blipFill>
                <a:blip r:embed="rId3"/>
                <a:stretch>
                  <a:fillRect l="-1705" b="-119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7A372B18-6ACD-3310-B420-4DFD92AE5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426" y="3919439"/>
            <a:ext cx="5865290" cy="21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61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F9C8-8010-4540-F4AE-8D35D9E7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A3984E6-B558-928C-4238-665C09DA7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06613"/>
            <a:ext cx="526297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理论支撑与实验成果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91B8F06-3AB9-7580-C117-C4145E8276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3585"/>
            <a:ext cx="104150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600" b="1" dirty="0">
                <a:solidFill>
                  <a:srgbClr val="000000"/>
                </a:solidFill>
              </a:rPr>
              <a:t>理论保证</a:t>
            </a:r>
            <a:r>
              <a:rPr lang="zh-CN" altLang="zh-CN" sz="3600" dirty="0">
                <a:solidFill>
                  <a:srgbClr val="000000"/>
                </a:solidFill>
              </a:rPr>
              <a:t>：在非独立同分布数据与系统约束下提供收敛保证 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600" b="1" dirty="0">
                <a:solidFill>
                  <a:srgbClr val="000000"/>
                </a:solidFill>
              </a:rPr>
              <a:t>性能跃升</a:t>
            </a:r>
            <a:r>
              <a:rPr lang="zh-CN" altLang="zh-CN" sz="3600" dirty="0">
                <a:solidFill>
                  <a:srgbClr val="000000"/>
                </a:solidFill>
              </a:rPr>
              <a:t>：在高度异构环境下，绝对测试准确率平均提升 22% </a:t>
            </a:r>
            <a:endParaRPr lang="zh-CN" altLang="zh-CN" sz="3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E605-1DC0-B096-AEAB-66E8F472D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26" y="3919439"/>
            <a:ext cx="5865290" cy="21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5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45080-A1EA-88F5-B607-49854337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D79FB12-4B58-26E6-9F29-E894EC91C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06613"/>
            <a:ext cx="1009122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原文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实验 —— 在极端异构环境下的表现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1A8FD5-94A1-75CF-72F0-6D0A526CE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656" y="1376054"/>
            <a:ext cx="1183268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200" b="1" dirty="0">
                <a:solidFill>
                  <a:srgbClr val="000000"/>
                </a:solidFill>
              </a:rPr>
              <a:t>场景设定</a:t>
            </a:r>
            <a:r>
              <a:rPr lang="zh-CN" altLang="zh-CN" sz="3200" dirty="0">
                <a:solidFill>
                  <a:srgbClr val="000000"/>
                </a:solidFill>
              </a:rPr>
              <a:t>：模拟极端系统异构性（高达 90% 的掉队设备） 。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200" b="1" dirty="0">
                <a:solidFill>
                  <a:srgbClr val="000000"/>
                </a:solidFill>
              </a:rPr>
              <a:t>对比一（容忍部分工作）</a:t>
            </a:r>
            <a:r>
              <a:rPr lang="zh-CN" altLang="zh-CN" sz="3200" dirty="0">
                <a:solidFill>
                  <a:srgbClr val="000000"/>
                </a:solidFill>
              </a:rPr>
              <a:t>：即使不加近端项（μ=0），合并部分更新也比直接丢弃设备更稳定 。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200" b="1" dirty="0">
                <a:solidFill>
                  <a:srgbClr val="000000"/>
                </a:solidFill>
              </a:rPr>
              <a:t>对比二（近端项的威力）</a:t>
            </a:r>
            <a:r>
              <a:rPr lang="zh-CN" altLang="zh-CN" sz="3200" dirty="0">
                <a:solidFill>
                  <a:srgbClr val="000000"/>
                </a:solidFill>
              </a:rPr>
              <a:t>：加入近端项（μ&gt;0）后，有效防止了模型发散，收敛曲线极致平滑 。</a:t>
            </a:r>
          </a:p>
          <a:p>
            <a:pPr marL="0" lvl="0" indent="0">
              <a:lnSpc>
                <a:spcPct val="100000"/>
              </a:lnSpc>
              <a:buFontTx/>
              <a:buChar char="•"/>
            </a:pPr>
            <a:r>
              <a:rPr lang="zh-CN" altLang="zh-CN" sz="3200" b="1" dirty="0">
                <a:solidFill>
                  <a:srgbClr val="000000"/>
                </a:solidFill>
              </a:rPr>
              <a:t>最终战绩</a:t>
            </a:r>
            <a:r>
              <a:rPr lang="zh-CN" altLang="zh-CN" sz="3200" dirty="0">
                <a:solidFill>
                  <a:srgbClr val="000000"/>
                </a:solidFill>
              </a:rPr>
              <a:t>：测试准确率平均提升 </a:t>
            </a:r>
            <a:r>
              <a:rPr lang="zh-CN" altLang="zh-CN" sz="3200" b="1" dirty="0">
                <a:solidFill>
                  <a:srgbClr val="000000"/>
                </a:solidFill>
              </a:rPr>
              <a:t>22%</a:t>
            </a:r>
            <a:r>
              <a:rPr lang="zh-CN" altLang="zh-CN" sz="3200" dirty="0">
                <a:solidFill>
                  <a:srgbClr val="000000"/>
                </a:solidFill>
              </a:rPr>
              <a:t> 。</a:t>
            </a:r>
            <a:endParaRPr lang="zh-CN" altLang="zh-CN" sz="32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455D3AA-953C-A368-516E-CF7D7499F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52" b="6552"/>
          <a:stretch>
            <a:fillRect/>
          </a:stretch>
        </p:blipFill>
        <p:spPr>
          <a:xfrm>
            <a:off x="321217" y="4779265"/>
            <a:ext cx="11691127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48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AE9F-D429-7047-9FEF-BF2B6E44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A0377B9-53EC-73DA-5450-0AB022AB0C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9156" y="161824"/>
            <a:ext cx="114441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复现原文</a:t>
            </a:r>
            <a:r>
              <a:rPr lang="zh-CN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实验</a:t>
            </a:r>
            <a:r>
              <a:rPr lang="en-US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 - </a:t>
            </a: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复现原文数据异质性影响（原文</a:t>
            </a:r>
            <a:r>
              <a:rPr lang="en-US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Fig. 2</a:t>
            </a: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）</a:t>
            </a:r>
            <a:endParaRPr lang="zh-CN" altLang="zh-CN" sz="3600" dirty="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6CA72A-0827-8F57-52FC-77426553C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751" y="3349423"/>
            <a:ext cx="6717792" cy="33467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5F9C6E-348E-2758-756D-AF304AA2A2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89"/>
          <a:stretch>
            <a:fillRect/>
          </a:stretch>
        </p:blipFill>
        <p:spPr>
          <a:xfrm>
            <a:off x="4235447" y="950569"/>
            <a:ext cx="7772400" cy="2398853"/>
          </a:xfrm>
          <a:prstGeom prst="rect">
            <a:avLst/>
          </a:prstGeom>
        </p:spPr>
      </p:pic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923F3426-E6E7-0799-A892-DD7BB9DACCD3}"/>
              </a:ext>
            </a:extLst>
          </p:cNvPr>
          <p:cNvCxnSpPr/>
          <p:nvPr/>
        </p:nvCxnSpPr>
        <p:spPr>
          <a:xfrm>
            <a:off x="269156" y="3347977"/>
            <a:ext cx="113518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66C4C3C-CF65-600C-FD89-E6FFC8FCBE4A}"/>
              </a:ext>
            </a:extLst>
          </p:cNvPr>
          <p:cNvSpPr txBox="1"/>
          <p:nvPr/>
        </p:nvSpPr>
        <p:spPr>
          <a:xfrm>
            <a:off x="787078" y="1307939"/>
            <a:ext cx="2233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dirty="0"/>
              <a:t>原文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137EDE-5B89-8B59-256E-0C89580A8AD5}"/>
              </a:ext>
            </a:extLst>
          </p:cNvPr>
          <p:cNvSpPr txBox="1"/>
          <p:nvPr/>
        </p:nvSpPr>
        <p:spPr>
          <a:xfrm>
            <a:off x="787078" y="4534398"/>
            <a:ext cx="2233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dirty="0"/>
              <a:t>复现</a:t>
            </a:r>
          </a:p>
        </p:txBody>
      </p:sp>
    </p:spTree>
    <p:extLst>
      <p:ext uri="{BB962C8B-B14F-4D97-AF65-F5344CB8AC3E}">
        <p14:creationId xmlns:p14="http://schemas.microsoft.com/office/powerpoint/2010/main" val="45522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7CA0-AC03-8C51-8422-DF069B4E8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1E887A1-9DE1-B289-0AB6-A0579AFD2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9156" y="161824"/>
            <a:ext cx="104470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复现原文</a:t>
            </a:r>
            <a:r>
              <a:rPr lang="zh-CN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实验</a:t>
            </a:r>
            <a:r>
              <a:rPr lang="en-US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 - </a:t>
            </a: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复现模型“掉队”影响（原文</a:t>
            </a:r>
            <a:r>
              <a:rPr lang="en-US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Fig. 1</a:t>
            </a: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）</a:t>
            </a:r>
            <a:endParaRPr lang="zh-CN" altLang="zh-CN" sz="3600" dirty="0">
              <a:latin typeface="Arial" panose="020B0604020202020204" pitchFamily="34" charset="0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E40C8E3F-BDC0-460A-7DED-514C602079B7}"/>
              </a:ext>
            </a:extLst>
          </p:cNvPr>
          <p:cNvCxnSpPr/>
          <p:nvPr/>
        </p:nvCxnSpPr>
        <p:spPr>
          <a:xfrm>
            <a:off x="269156" y="3347977"/>
            <a:ext cx="113518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9032AB2-2BC5-40C5-89DD-12C73C464AA8}"/>
              </a:ext>
            </a:extLst>
          </p:cNvPr>
          <p:cNvSpPr txBox="1"/>
          <p:nvPr/>
        </p:nvSpPr>
        <p:spPr>
          <a:xfrm>
            <a:off x="787078" y="1307939"/>
            <a:ext cx="2233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dirty="0"/>
              <a:t>原文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364704-97E8-609B-FBD1-B78709554F99}"/>
              </a:ext>
            </a:extLst>
          </p:cNvPr>
          <p:cNvSpPr txBox="1"/>
          <p:nvPr/>
        </p:nvSpPr>
        <p:spPr>
          <a:xfrm>
            <a:off x="787078" y="4534398"/>
            <a:ext cx="2233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dirty="0"/>
              <a:t>复现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F129AC-CF6E-5A0D-B2E2-44CBF08E1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972" y="3825428"/>
            <a:ext cx="8082010" cy="23091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31FEE0-22ED-22A2-40DB-6A38248805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3184"/>
          <a:stretch>
            <a:fillRect/>
          </a:stretch>
        </p:blipFill>
        <p:spPr>
          <a:xfrm>
            <a:off x="2403516" y="974093"/>
            <a:ext cx="3503592" cy="19402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2D581E9-49D7-23D1-940D-32B49D10BD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6" t="35331" b="34594"/>
          <a:stretch>
            <a:fillRect/>
          </a:stretch>
        </p:blipFill>
        <p:spPr>
          <a:xfrm>
            <a:off x="5802290" y="1127292"/>
            <a:ext cx="3127418" cy="151405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1640E18-0235-6FF5-A4C3-7047C98B44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93"/>
          <a:stretch>
            <a:fillRect/>
          </a:stretch>
        </p:blipFill>
        <p:spPr>
          <a:xfrm>
            <a:off x="8824889" y="974093"/>
            <a:ext cx="3503593" cy="194023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30D842F-B1F1-3A7A-97FB-6CBF42233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789" y="2841277"/>
            <a:ext cx="4229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02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8962F-5A9A-DBF3-AE0C-43CEB3DF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6F7A73F-57C4-409F-E0DA-F79C8FEC4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69156" y="161824"/>
            <a:ext cx="623760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复现原文</a:t>
            </a:r>
            <a:r>
              <a:rPr lang="zh-CN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实验</a:t>
            </a:r>
            <a:r>
              <a:rPr lang="en-US" altLang="zh-CN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 – </a:t>
            </a:r>
            <a:r>
              <a:rPr lang="zh-CN" altLang="en-US" sz="3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其他实验结果</a:t>
            </a:r>
            <a:endParaRPr lang="zh-CN" altLang="zh-CN" sz="3600" dirty="0">
              <a:latin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0AEAE6-BFDE-3E68-DCA6-3623BA399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645" y="4550584"/>
            <a:ext cx="9230709" cy="226765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53496CA-14D0-543B-F280-D20E01302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761" y="808155"/>
            <a:ext cx="8014609" cy="374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23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84E5-A37E-748A-DD53-2C7D8AC9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677D18F-EA1B-DD12-7E08-768EF9B495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06613"/>
            <a:ext cx="131318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材料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477B0DE-63E8-05F6-2267-858E222F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复现</a:t>
            </a:r>
            <a:r>
              <a:rPr kumimoji="1" lang="zh-CN" alt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：</a:t>
            </a:r>
            <a:r>
              <a:rPr kumimoji="1" lang="en" altLang="zh-CN" dirty="0">
                <a:hlinkClick r:id="rId3"/>
              </a:rPr>
              <a:t>https://github.com/yizhitutuqiu/f_learning_1</a:t>
            </a:r>
            <a:endParaRPr kumimoji="1" lang="en" altLang="zh-CN" dirty="0"/>
          </a:p>
          <a:p>
            <a:r>
              <a:rPr kumimoji="1" lang="en-US" altLang="zh-CN" dirty="0" err="1"/>
              <a:t>Fedprox</a:t>
            </a:r>
            <a:r>
              <a:rPr kumimoji="1" lang="zh-CN" altLang="en-US" dirty="0"/>
              <a:t>代码仓：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/litian96/</a:t>
            </a:r>
            <a:r>
              <a:rPr kumimoji="1" lang="en" altLang="zh-CN" dirty="0" err="1"/>
              <a:t>FedProx</a:t>
            </a:r>
            <a:r>
              <a:rPr kumimoji="1" lang="en" altLang="zh-CN" dirty="0"/>
              <a:t>/tree/master</a:t>
            </a:r>
          </a:p>
          <a:p>
            <a:r>
              <a:rPr kumimoji="1" lang="zh-CN" altLang="en" dirty="0"/>
              <a:t>原文</a:t>
            </a:r>
            <a:r>
              <a:rPr kumimoji="1" lang="en-US" altLang="zh-CN" dirty="0" err="1"/>
              <a:t>arxiv</a:t>
            </a:r>
            <a:r>
              <a:rPr kumimoji="1" lang="zh-CN" altLang="en-US" dirty="0"/>
              <a:t>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arxiv.org</a:t>
            </a:r>
            <a:r>
              <a:rPr kumimoji="1" lang="en" altLang="zh-CN" dirty="0"/>
              <a:t>/abs/1812.06127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142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444</Words>
  <Application>Microsoft Macintosh PowerPoint</Application>
  <PresentationFormat>宽屏</PresentationFormat>
  <Paragraphs>51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Arial</vt:lpstr>
      <vt:lpstr>Cambria Math</vt:lpstr>
      <vt:lpstr>Times New Roman</vt:lpstr>
      <vt:lpstr>Office 主题​​</vt:lpstr>
      <vt:lpstr>Federated Optimization  in Heterogeneous Networks</vt:lpstr>
      <vt:lpstr>联邦学习的两大核心挑战</vt:lpstr>
      <vt:lpstr>现有基准方法 （FedAvg） 的局限 </vt:lpstr>
      <vt:lpstr>FedProx：FedAvg 的泛化与重新参数化</vt:lpstr>
      <vt:lpstr>创新点一：容忍部分工作</vt:lpstr>
      <vt:lpstr>创新点二：引入近端惩罚项</vt:lpstr>
      <vt:lpstr>理论支撑与实验成果</vt:lpstr>
      <vt:lpstr>原文实验 —— 在极端异构环境下的表现</vt:lpstr>
      <vt:lpstr>复现原文实验 - 复现原文数据异质性影响（原文Fig. 2）</vt:lpstr>
      <vt:lpstr>复现原文实验 - 复现模型“掉队”影响（原文Fig. 1）</vt:lpstr>
      <vt:lpstr>复现原文实验 – 其他实验结果</vt:lpstr>
      <vt:lpstr>材料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a4x</dc:creator>
  <cp:lastModifiedBy>a4x</cp:lastModifiedBy>
  <cp:revision>2</cp:revision>
  <dcterms:created xsi:type="dcterms:W3CDTF">2026-03-16T02:12:47Z</dcterms:created>
  <dcterms:modified xsi:type="dcterms:W3CDTF">2026-03-16T10:51:19Z</dcterms:modified>
</cp:coreProperties>
</file>